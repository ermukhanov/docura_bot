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image" Target="../media/image-6-1.png"/><Relationship Id="rId4" Type="http://schemas.openxmlformats.org/officeDocument/2006/relationships/image" Target="../media/image-6-4.png"/><Relationship Id="rId5" Type="http://schemas.openxmlformats.org/officeDocument/2006/relationships/image" Target="../media/image-6-4.png"/><Relationship Id="rId6" Type="http://schemas.openxmlformats.org/officeDocument/2006/relationships/image" Target="../media/image-6-4.png"/><Relationship Id="rId7" Type="http://schemas.openxmlformats.org/officeDocument/2006/relationships/image" Target="../media/image-6-4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image" Target="../media/image-7-1.png"/><Relationship Id="rId4" Type="http://schemas.openxmlformats.org/officeDocument/2006/relationships/image" Target="../media/image-7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0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371600"/>
            <a:ext cx="5486400" cy="5486400"/>
          </a:xfrm>
          <a:prstGeom prst="ellipse">
            <a:avLst/>
          </a:prstGeom>
          <a:solidFill>
            <a:srgbClr val="1A2E5A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274320"/>
            <a:ext cx="2926080" cy="2926080"/>
          </a:xfrm>
          <a:prstGeom prst="ellipse">
            <a:avLst/>
          </a:prstGeom>
          <a:solidFill>
            <a:srgbClr val="2E75B6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3317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DOCURA.KZ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77240" y="32461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BF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ИИ-документооборот для педагогов Казахстана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7240" y="379476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A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Telegram-бот, который генерирует официальные документы школ и детских садов за секунды — вместо часов ручной работы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6126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8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Инвестиционная презентация ·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Бумажная нагрузка съедает время педагогов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29000" cy="3200400"/>
          </a:xfrm>
          <a:prstGeom prst="roundRect">
            <a:avLst>
              <a:gd name="adj" fmla="val 2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.64306955256e+21" dist="991151082210000000000" dir="6.9984e+25">
              <a:srgbClr val="1A2E5A">
                <a:alpha val="8e+23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48840"/>
            <a:ext cx="640080" cy="640080"/>
          </a:xfrm>
          <a:prstGeom prst="ellipse">
            <a:avLst/>
          </a:prstGeom>
          <a:solidFill>
            <a:srgbClr val="1A2E5A"/>
          </a:solidFill>
          <a:ln/>
        </p:spPr>
      </p:sp>
      <p:pic>
        <p:nvPicPr>
          <p:cNvPr id="6" name="Image 0" descr="icons/FaClo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" y="230428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2971800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 10 часов в неделю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60120" y="3520440"/>
            <a:ext cx="27889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учитель тратит на КСП, отчёты, характеристики и заявления — вместо работы с детьми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89120" y="1828800"/>
            <a:ext cx="3429000" cy="3200400"/>
          </a:xfrm>
          <a:prstGeom prst="roundRect">
            <a:avLst>
              <a:gd name="adj" fmla="val 2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.64306955256e+21" dist="991151082210000000000" dir="6.9984e+25">
              <a:srgbClr val="1A2E5A">
                <a:alpha val="8e+23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09160" y="2148840"/>
            <a:ext cx="640080" cy="640080"/>
          </a:xfrm>
          <a:prstGeom prst="ellipse">
            <a:avLst/>
          </a:prstGeom>
          <a:solidFill>
            <a:srgbClr val="1A2E5A"/>
          </a:solidFill>
          <a:ln/>
        </p:spPr>
      </p:sp>
      <p:pic>
        <p:nvPicPr>
          <p:cNvPr id="11" name="Image 1" descr="icons/FaExclamationTriangl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230428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09160" y="2971800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Несоответствие нормам МОН РК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709160" y="3520440"/>
            <a:ext cx="27889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документы делаются «на глаз», без актуальных приказов и ГОСО — риски при проверках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38160" y="1828800"/>
            <a:ext cx="3429000" cy="3200400"/>
          </a:xfrm>
          <a:prstGeom prst="roundRect">
            <a:avLst>
              <a:gd name="adj" fmla="val 2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.64306955256e+21" dist="991151082210000000000" dir="6.9984e+25">
              <a:srgbClr val="1A2E5A">
                <a:alpha val="8e+23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58200" y="2148840"/>
            <a:ext cx="640080" cy="640080"/>
          </a:xfrm>
          <a:prstGeom prst="ellipse">
            <a:avLst/>
          </a:prstGeom>
          <a:solidFill>
            <a:srgbClr val="1A2E5A"/>
          </a:solidFill>
          <a:ln/>
        </p:spPr>
      </p:sp>
      <p:pic>
        <p:nvPicPr>
          <p:cNvPr id="16" name="Image 2" descr="icons/FaChil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648" y="230428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58200" y="2971800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Воспитатели в той же ловушке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458200" y="3520440"/>
            <a:ext cx="27889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детских садов в РК больше, чем школ — а готовых цифровых решений под их документы нет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40080" y="6263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Источник: внутренние интервью с учителями и воспитателями Актобе, опыт основателя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DOCURA.KZ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E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Документ за 30 секунд — голосом или текстом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29000" cy="3383280"/>
          </a:xfrm>
          <a:prstGeom prst="roundRect">
            <a:avLst>
              <a:gd name="adj" fmla="val 2162"/>
            </a:avLst>
          </a:prstGeom>
          <a:solidFill>
            <a:srgbClr val="23396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011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E5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108960" y="2103120"/>
            <a:ext cx="594360" cy="594360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7" name="Image 0" descr="icons/FaTelegramPlan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6120" y="224028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288036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Выбор или голос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4400" y="3383280"/>
            <a:ext cx="28803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2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Учитель выбирает тип документа в боте или просто записывает голосовое сообщение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119372" y="3383280"/>
            <a:ext cx="219456" cy="219456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1" name="Shape 8"/>
          <p:cNvSpPr/>
          <p:nvPr/>
        </p:nvSpPr>
        <p:spPr>
          <a:xfrm>
            <a:off x="4389120" y="1828800"/>
            <a:ext cx="3429000" cy="3383280"/>
          </a:xfrm>
          <a:prstGeom prst="roundRect">
            <a:avLst>
              <a:gd name="adj" fmla="val 2162"/>
            </a:avLst>
          </a:prstGeom>
          <a:solidFill>
            <a:srgbClr val="23396B"/>
          </a:solidFill>
          <a:ln/>
        </p:spPr>
      </p:sp>
      <p:sp>
        <p:nvSpPr>
          <p:cNvPr id="12" name="Text 9"/>
          <p:cNvSpPr/>
          <p:nvPr/>
        </p:nvSpPr>
        <p:spPr>
          <a:xfrm>
            <a:off x="4663440" y="2011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E5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200" dirty="0"/>
          </a:p>
        </p:txBody>
      </p:sp>
      <p:sp>
        <p:nvSpPr>
          <p:cNvPr id="13" name="Shape 10"/>
          <p:cNvSpPr/>
          <p:nvPr/>
        </p:nvSpPr>
        <p:spPr>
          <a:xfrm>
            <a:off x="6858000" y="2103120"/>
            <a:ext cx="594360" cy="594360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14" name="Image 1" descr="icons/FaRobot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2240280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63440" y="288036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AI генерирует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4663440" y="3383280"/>
            <a:ext cx="28803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2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 строит документ по нормам МОН РК / ГОСО ДО, используя профиль учителя и эталонные образцы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7868412" y="3383280"/>
            <a:ext cx="219456" cy="219456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8" name="Shape 14"/>
          <p:cNvSpPr/>
          <p:nvPr/>
        </p:nvSpPr>
        <p:spPr>
          <a:xfrm>
            <a:off x="8138160" y="1828800"/>
            <a:ext cx="3429000" cy="3383280"/>
          </a:xfrm>
          <a:prstGeom prst="roundRect">
            <a:avLst>
              <a:gd name="adj" fmla="val 2162"/>
            </a:avLst>
          </a:prstGeom>
          <a:solidFill>
            <a:srgbClr val="23396B"/>
          </a:solidFill>
          <a:ln/>
        </p:spPr>
      </p:sp>
      <p:sp>
        <p:nvSpPr>
          <p:cNvPr id="19" name="Text 15"/>
          <p:cNvSpPr/>
          <p:nvPr/>
        </p:nvSpPr>
        <p:spPr>
          <a:xfrm>
            <a:off x="8412480" y="2011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E5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200" dirty="0"/>
          </a:p>
        </p:txBody>
      </p:sp>
      <p:sp>
        <p:nvSpPr>
          <p:cNvPr id="20" name="Shape 16"/>
          <p:cNvSpPr/>
          <p:nvPr/>
        </p:nvSpPr>
        <p:spPr>
          <a:xfrm>
            <a:off x="10607040" y="2103120"/>
            <a:ext cx="594360" cy="594360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21" name="Image 2" descr="icons/FaFileWord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2240280"/>
            <a:ext cx="320040" cy="32004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412480" y="288036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Готовый Word-файл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8412480" y="3383280"/>
            <a:ext cx="28803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2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 с официальным оформлением, печатью-заглушкой и подписями — готов к печати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895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DOCURA.KZ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5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 тип документа в одном Telegram-боте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120640" cy="1508760"/>
          </a:xfrm>
          <a:prstGeom prst="roundRect">
            <a:avLst>
              <a:gd name="adj" fmla="val 484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148840"/>
            <a:ext cx="868680" cy="868680"/>
          </a:xfrm>
          <a:prstGeom prst="ellipse">
            <a:avLst/>
          </a:prstGeom>
          <a:solidFill>
            <a:srgbClr val="1A2E5A"/>
          </a:solidFill>
          <a:ln/>
        </p:spPr>
      </p:sp>
      <p:pic>
        <p:nvPicPr>
          <p:cNvPr id="6" name="Image 0" descr="icons/FaSchool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1288" y="237744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202996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ШКОЛА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965960" y="22860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 документов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965960" y="27432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КСП, календарный план, отчёт учителя, характеристика ученика, заявления и др.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40080" y="3520440"/>
            <a:ext cx="5120640" cy="1508760"/>
          </a:xfrm>
          <a:prstGeom prst="roundRect">
            <a:avLst>
              <a:gd name="adj" fmla="val 484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14400" y="3840480"/>
            <a:ext cx="868680" cy="868680"/>
          </a:xfrm>
          <a:prstGeom prst="ellipse">
            <a:avLst/>
          </a:prstGeom>
          <a:solidFill>
            <a:srgbClr val="1A2E5A"/>
          </a:solidFill>
          <a:ln/>
        </p:spPr>
      </p:sp>
      <p:pic>
        <p:nvPicPr>
          <p:cNvPr id="12" name="Image 1" descr="icons/FaChil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288" y="406908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965960" y="372160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ДЕТСКИЙ САД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1965960" y="39776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документов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1965960" y="4434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Конспект занятия, технологическая карта, циклограмма, годовой план, характеристика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263640" y="1828800"/>
            <a:ext cx="502920" cy="502920"/>
          </a:xfrm>
          <a:prstGeom prst="ellipse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17" name="Image 2" descr="icons/FaTelegramPlane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656" y="1947672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949440" y="1783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Голосовой ввод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6949440" y="21031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Учитель говорит — ИИ распознаёт тип документа и данные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263640" y="2697480"/>
            <a:ext cx="502920" cy="502920"/>
          </a:xfrm>
          <a:prstGeom prst="ellipse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21" name="Image 3" descr="icons/FaShieldAlt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656" y="2816352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949440" y="2651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Защита от выдумки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6949440" y="2971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Бот не сочиняет факты — честные плейсхолдеры вместо догадок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6263640" y="3566160"/>
            <a:ext cx="502920" cy="502920"/>
          </a:xfrm>
          <a:prstGeom prst="ellipse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25" name="Image 4" descr="icons/FaLayerGroup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1656" y="3685032"/>
            <a:ext cx="256032" cy="25603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949440" y="3520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Обучение на образцах</a:t>
            </a:r>
            <a:endParaRPr lang="en-US" sz="1350" dirty="0"/>
          </a:p>
        </p:txBody>
      </p:sp>
      <p:sp>
        <p:nvSpPr>
          <p:cNvPr id="27" name="Text 20"/>
          <p:cNvSpPr/>
          <p:nvPr/>
        </p:nvSpPr>
        <p:spPr>
          <a:xfrm>
            <a:off x="6949440" y="38404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Админ загружает эталонные документы — ИИ повторяет стиль школы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6263640" y="4434840"/>
            <a:ext cx="502920" cy="502920"/>
          </a:xfrm>
          <a:prstGeom prst="ellipse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29" name="Image 5" descr="icons/FaCogs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1656" y="4553712"/>
            <a:ext cx="256032" cy="256032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6949440" y="4389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Точечное редактирование</a:t>
            </a:r>
            <a:endParaRPr lang="en-US" sz="1350" dirty="0"/>
          </a:p>
        </p:txBody>
      </p:sp>
      <p:sp>
        <p:nvSpPr>
          <p:cNvPr id="31" name="Text 23"/>
          <p:cNvSpPr/>
          <p:nvPr/>
        </p:nvSpPr>
        <p:spPr>
          <a:xfrm>
            <a:off x="6949440" y="47091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 можно править после генерации, без пересоздания заново</a:t>
            </a:r>
            <a:endParaRPr lang="en-US" sz="1100" dirty="0"/>
          </a:p>
        </p:txBody>
      </p:sp>
      <p:sp>
        <p:nvSpPr>
          <p:cNvPr id="32" name="Text 24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DOCURA.KZ</a:t>
            </a:r>
            <a:endParaRPr lang="en-US" sz="900" dirty="0"/>
          </a:p>
        </p:txBody>
      </p:sp>
      <p:sp>
        <p:nvSpPr>
          <p:cNvPr id="33" name="Text 25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РЫНОК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Сотни тысяч педагогов без цифрового инструмента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429000" cy="1920240"/>
          </a:xfrm>
          <a:prstGeom prst="roundRect">
            <a:avLst>
              <a:gd name="adj" fmla="val 381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0312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~300 000+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92608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учителей школ РК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89120" y="1920240"/>
            <a:ext cx="3429000" cy="1920240"/>
          </a:xfrm>
          <a:prstGeom prst="roundRect">
            <a:avLst>
              <a:gd name="adj" fmla="val 381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210312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75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больше школ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663440" y="292608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детских садов и яслей в РК, чем школ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38160" y="1920240"/>
            <a:ext cx="3429000" cy="1920240"/>
          </a:xfrm>
          <a:prstGeom prst="roundRect">
            <a:avLst>
              <a:gd name="adj" fmla="val 381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0" y="210312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8412480" y="292608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специализированных AI-сервисов документооборота для педагогов РК сегодня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206240"/>
            <a:ext cx="1088136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52628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Стратегия выхода: «узко и глубоко»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0080" y="4983480"/>
            <a:ext cx="10607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Сначала — учителя школ Казахстана (узкий, понятный сегмент с конкретной болью). Следующий шаг — воспитатели детских садов, нишa с не менее острой потребностью и нулевой конкуренцией. Расширение на смежные госструктуры — после захвата основной аудитории.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DOCURA.KZ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E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БИЗНЕС-МОДЕЛЬ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Freemium с подпиской 1 990 ₸/мес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383280" cy="3566160"/>
          </a:xfrm>
          <a:prstGeom prst="roundRect">
            <a:avLst>
              <a:gd name="adj" fmla="val 2162"/>
            </a:avLst>
          </a:prstGeom>
          <a:solidFill>
            <a:srgbClr val="1A2E5A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057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242316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₸</a:t>
            </a:r>
            <a:endParaRPr lang="en-US" sz="2600" dirty="0"/>
          </a:p>
        </p:txBody>
      </p:sp>
      <p:pic>
        <p:nvPicPr>
          <p:cNvPr id="7" name="Image 0" descr="icons/FaCheckCircle_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3200400"/>
            <a:ext cx="201168" cy="201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61872" y="313639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документа навсегда</a:t>
            </a:r>
            <a:endParaRPr lang="en-US" sz="1150" dirty="0"/>
          </a:p>
        </p:txBody>
      </p:sp>
      <p:pic>
        <p:nvPicPr>
          <p:cNvPr id="9" name="Image 1" descr="icons/FaCheckCircle_i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3611880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61872" y="354787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типы документов</a:t>
            </a:r>
            <a:endParaRPr lang="en-US" sz="1150" dirty="0"/>
          </a:p>
        </p:txBody>
      </p:sp>
      <p:pic>
        <p:nvPicPr>
          <p:cNvPr id="11" name="Image 2" descr="icons/FaCheckCircle_ic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023360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61872" y="395935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Word-файл, готовый к печати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4297680" y="1828800"/>
            <a:ext cx="3383280" cy="3566160"/>
          </a:xfrm>
          <a:prstGeom prst="roundRect">
            <a:avLst>
              <a:gd name="adj" fmla="val 2162"/>
            </a:avLst>
          </a:prstGeom>
          <a:solidFill>
            <a:srgbClr val="23396B"/>
          </a:solidFill>
          <a:ln w="19050">
            <a:solidFill>
              <a:srgbClr val="D4AF37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4617720" y="2057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4617720" y="242316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1 990 ₸ / мес</a:t>
            </a:r>
            <a:endParaRPr lang="en-US" sz="2600" dirty="0"/>
          </a:p>
        </p:txBody>
      </p:sp>
      <p:pic>
        <p:nvPicPr>
          <p:cNvPr id="16" name="Image 3" descr="icons/FaCheckCircle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3200400"/>
            <a:ext cx="201168" cy="20116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919472" y="313639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Безлимитная генерация</a:t>
            </a:r>
            <a:endParaRPr lang="en-US" sz="1150" dirty="0"/>
          </a:p>
        </p:txBody>
      </p:sp>
      <p:pic>
        <p:nvPicPr>
          <p:cNvPr id="18" name="Image 4" descr="icons/FaCheckCircle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7720" y="3611880"/>
            <a:ext cx="201168" cy="20116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919472" y="354787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Голосовой ввод</a:t>
            </a:r>
            <a:endParaRPr lang="en-US" sz="1150" dirty="0"/>
          </a:p>
        </p:txBody>
      </p:sp>
      <p:pic>
        <p:nvPicPr>
          <p:cNvPr id="20" name="Image 5" descr="icons/FaCheckCircle_go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7720" y="4023360"/>
            <a:ext cx="201168" cy="20116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4919472" y="395935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 учеников</a:t>
            </a:r>
            <a:endParaRPr lang="en-US" sz="1150" dirty="0"/>
          </a:p>
        </p:txBody>
      </p:sp>
      <p:pic>
        <p:nvPicPr>
          <p:cNvPr id="22" name="Image 6" descr="icons/FaCheckCircle_gol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7720" y="4434840"/>
            <a:ext cx="201168" cy="201168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4919472" y="437083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Точечное редактирование</a:t>
            </a:r>
            <a:endParaRPr lang="en-US" sz="1150" dirty="0"/>
          </a:p>
        </p:txBody>
      </p:sp>
      <p:sp>
        <p:nvSpPr>
          <p:cNvPr id="24" name="Shape 15"/>
          <p:cNvSpPr/>
          <p:nvPr/>
        </p:nvSpPr>
        <p:spPr>
          <a:xfrm>
            <a:off x="8138160" y="1828800"/>
            <a:ext cx="3383280" cy="356616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/>
        </p:spPr>
      </p:sp>
      <p:sp>
        <p:nvSpPr>
          <p:cNvPr id="25" name="Text 16"/>
          <p:cNvSpPr/>
          <p:nvPr/>
        </p:nvSpPr>
        <p:spPr>
          <a:xfrm>
            <a:off x="8412480" y="20574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Юнит-экономика</a:t>
            </a:r>
            <a:endParaRPr lang="en-US" sz="1300" dirty="0"/>
          </a:p>
        </p:txBody>
      </p:sp>
      <p:sp>
        <p:nvSpPr>
          <p:cNvPr id="26" name="Text 17"/>
          <p:cNvSpPr/>
          <p:nvPr/>
        </p:nvSpPr>
        <p:spPr>
          <a:xfrm>
            <a:off x="8412480" y="25603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Себестоимость / документ</a:t>
            </a:r>
            <a:endParaRPr lang="en-US" sz="1050" dirty="0"/>
          </a:p>
        </p:txBody>
      </p:sp>
      <p:sp>
        <p:nvSpPr>
          <p:cNvPr id="27" name="Text 18"/>
          <p:cNvSpPr/>
          <p:nvPr/>
        </p:nvSpPr>
        <p:spPr>
          <a:xfrm>
            <a:off x="8412480" y="28346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0,05–0,07 $</a:t>
            </a:r>
            <a:endParaRPr lang="en-US" sz="1300" dirty="0"/>
          </a:p>
        </p:txBody>
      </p:sp>
      <p:sp>
        <p:nvSpPr>
          <p:cNvPr id="28" name="Text 19"/>
          <p:cNvSpPr/>
          <p:nvPr/>
        </p:nvSpPr>
        <p:spPr>
          <a:xfrm>
            <a:off x="8412480" y="32004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Цена подписки</a:t>
            </a:r>
            <a:endParaRPr lang="en-US" sz="1050" dirty="0"/>
          </a:p>
        </p:txBody>
      </p:sp>
      <p:sp>
        <p:nvSpPr>
          <p:cNvPr id="29" name="Text 20"/>
          <p:cNvSpPr/>
          <p:nvPr/>
        </p:nvSpPr>
        <p:spPr>
          <a:xfrm>
            <a:off x="8412480" y="3474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1 990 ₸ / мес</a:t>
            </a:r>
            <a:endParaRPr lang="en-US" sz="1300" dirty="0"/>
          </a:p>
        </p:txBody>
      </p:sp>
      <p:sp>
        <p:nvSpPr>
          <p:cNvPr id="30" name="Text 21"/>
          <p:cNvSpPr/>
          <p:nvPr/>
        </p:nvSpPr>
        <p:spPr>
          <a:xfrm>
            <a:off x="8412480" y="38404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Точка безубыточности</a:t>
            </a:r>
            <a:endParaRPr lang="en-US" sz="1050" dirty="0"/>
          </a:p>
        </p:txBody>
      </p:sp>
      <p:sp>
        <p:nvSpPr>
          <p:cNvPr id="31" name="Text 22"/>
          <p:cNvSpPr/>
          <p:nvPr/>
        </p:nvSpPr>
        <p:spPr>
          <a:xfrm>
            <a:off x="8412480" y="4114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100 PRO</a:t>
            </a:r>
            <a:endParaRPr lang="en-US" sz="1300" dirty="0"/>
          </a:p>
        </p:txBody>
      </p:sp>
      <p:sp>
        <p:nvSpPr>
          <p:cNvPr id="32" name="Text 23"/>
          <p:cNvSpPr/>
          <p:nvPr/>
        </p:nvSpPr>
        <p:spPr>
          <a:xfrm>
            <a:off x="8412480" y="44805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Целевая конверсия Free→PRO</a:t>
            </a:r>
            <a:endParaRPr lang="en-US" sz="1050" dirty="0"/>
          </a:p>
        </p:txBody>
      </p:sp>
      <p:sp>
        <p:nvSpPr>
          <p:cNvPr id="33" name="Text 24"/>
          <p:cNvSpPr/>
          <p:nvPr/>
        </p:nvSpPr>
        <p:spPr>
          <a:xfrm>
            <a:off x="8412480" y="47548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5–10%</a:t>
            </a:r>
            <a:endParaRPr lang="en-US" sz="1300" dirty="0"/>
          </a:p>
        </p:txBody>
      </p:sp>
      <p:sp>
        <p:nvSpPr>
          <p:cNvPr id="34" name="Text 25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895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DOCURA.KZ</a:t>
            </a:r>
            <a:endParaRPr lang="en-US" sz="900" dirty="0"/>
          </a:p>
        </p:txBody>
      </p:sp>
      <p:sp>
        <p:nvSpPr>
          <p:cNvPr id="35" name="Text 26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5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ТЕКУЩИЙ СТАТУС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Рабочий продукт, готовый к масштабированию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48640" cy="548640"/>
          </a:xfrm>
          <a:prstGeom prst="ellipse">
            <a:avLst/>
          </a:prstGeom>
          <a:solidFill>
            <a:srgbClr val="E6F4EC"/>
          </a:solidFill>
          <a:ln/>
        </p:spPr>
      </p:sp>
      <p:pic>
        <p:nvPicPr>
          <p:cNvPr id="5" name="Image 0" descr="icons/FaCheckCircl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05740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87452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Бот развёрнут и работает 24/7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417320" y="2212848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Деплой на Railway, бот доступен в Telegram, генерация документов проверена на реальных пользователях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40080" y="2880360"/>
            <a:ext cx="548640" cy="548640"/>
          </a:xfrm>
          <a:prstGeom prst="ellipse">
            <a:avLst/>
          </a:prstGeom>
          <a:solidFill>
            <a:srgbClr val="E6F4EC"/>
          </a:solidFill>
          <a:ln/>
        </p:spPr>
      </p:sp>
      <p:pic>
        <p:nvPicPr>
          <p:cNvPr id="9" name="Image 1" descr="icons/FaCheckCircle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01752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283464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Admin-панель внутри бота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417320" y="3172968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Статистика пользователей, рассылки, ручная активация подписки, загрузка обучающих образцов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3840480"/>
            <a:ext cx="548640" cy="548640"/>
          </a:xfrm>
          <a:prstGeom prst="ellipse">
            <a:avLst/>
          </a:prstGeom>
          <a:solidFill>
            <a:srgbClr val="E6F4EC"/>
          </a:solidFill>
          <a:ln/>
        </p:spPr>
      </p:sp>
      <p:pic>
        <p:nvPicPr>
          <p:cNvPr id="13" name="Image 2" descr="icons/FaCheckCircle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97764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379476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Приём платежей подключён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417320" y="4133088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Оплата через Kaspi по скриншоту с активацией подпиской в один клик; готовится Kaspi Pay API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40080" y="4800600"/>
            <a:ext cx="548640" cy="548640"/>
          </a:xfrm>
          <a:prstGeom prst="ellipse">
            <a:avLst/>
          </a:prstGeom>
          <a:solidFill>
            <a:srgbClr val="E6F4EC"/>
          </a:solidFill>
          <a:ln/>
        </p:spPr>
      </p:sp>
      <p:pic>
        <p:nvPicPr>
          <p:cNvPr id="17" name="Image 3" descr="icons/FaCheckCircle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937760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17320" y="475488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ИП зарегистрировано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1417320" y="5093208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Юридическая основа для масштабирования и официального приёма платежей в Казахстане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DOCURA.KZ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E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ТЕХНОЛОГИЯ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Архитектура для качества и низкой себестоимости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291840" cy="1554480"/>
          </a:xfrm>
          <a:prstGeom prst="roundRect">
            <a:avLst>
              <a:gd name="adj" fmla="val 4706"/>
            </a:avLst>
          </a:prstGeom>
          <a:solidFill>
            <a:srgbClr val="23396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194560"/>
            <a:ext cx="548640" cy="548640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6" name="Image 0" descr="icons/FaTelegramPlan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2340864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8346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Bot API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914400" y="3154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2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python-telegram-bot, голос и текст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977640" y="2697480"/>
            <a:ext cx="182880" cy="18288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0" name="Shape 7"/>
          <p:cNvSpPr/>
          <p:nvPr/>
        </p:nvSpPr>
        <p:spPr>
          <a:xfrm>
            <a:off x="4206240" y="1965960"/>
            <a:ext cx="3291840" cy="1554480"/>
          </a:xfrm>
          <a:prstGeom prst="roundRect">
            <a:avLst>
              <a:gd name="adj" fmla="val 4706"/>
            </a:avLst>
          </a:prstGeom>
          <a:solidFill>
            <a:srgbClr val="23396B"/>
          </a:solidFill>
          <a:ln/>
        </p:spPr>
      </p:sp>
      <p:sp>
        <p:nvSpPr>
          <p:cNvPr id="11" name="Shape 8"/>
          <p:cNvSpPr/>
          <p:nvPr/>
        </p:nvSpPr>
        <p:spPr>
          <a:xfrm>
            <a:off x="4480560" y="2194560"/>
            <a:ext cx="548640" cy="548640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12" name="Image 1" descr="icons/FaRobot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6864" y="2340864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480560" y="28346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4.6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480560" y="3154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2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генерация документа + встроенная самооценка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7543800" y="2697480"/>
            <a:ext cx="182880" cy="18288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6" name="Shape 12"/>
          <p:cNvSpPr/>
          <p:nvPr/>
        </p:nvSpPr>
        <p:spPr>
          <a:xfrm>
            <a:off x="7772400" y="1965960"/>
            <a:ext cx="3291840" cy="1554480"/>
          </a:xfrm>
          <a:prstGeom prst="roundRect">
            <a:avLst>
              <a:gd name="adj" fmla="val 4706"/>
            </a:avLst>
          </a:prstGeom>
          <a:solidFill>
            <a:srgbClr val="23396B"/>
          </a:solidFill>
          <a:ln/>
        </p:spPr>
      </p:sp>
      <p:sp>
        <p:nvSpPr>
          <p:cNvPr id="17" name="Shape 13"/>
          <p:cNvSpPr/>
          <p:nvPr/>
        </p:nvSpPr>
        <p:spPr>
          <a:xfrm>
            <a:off x="8046720" y="2194560"/>
            <a:ext cx="548640" cy="548640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18" name="Image 2" descr="icons/FaFileWord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3024" y="2340864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046720" y="28346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python-docx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8046720" y="3154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2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официальное оформление, ГОСТ РК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640080" y="3886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Ключевые инженерные решения</a:t>
            </a:r>
            <a:endParaRPr lang="en-US" sz="1700" dirty="0"/>
          </a:p>
        </p:txBody>
      </p:sp>
      <p:sp>
        <p:nvSpPr>
          <p:cNvPr id="22" name="Shape 17"/>
          <p:cNvSpPr/>
          <p:nvPr/>
        </p:nvSpPr>
        <p:spPr>
          <a:xfrm>
            <a:off x="685800" y="4507992"/>
            <a:ext cx="91440" cy="9144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23" name="Text 18"/>
          <p:cNvSpPr/>
          <p:nvPr/>
        </p:nvSpPr>
        <p:spPr>
          <a:xfrm>
            <a:off x="960120" y="4389120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C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проход генерации с самооценкой вместо отдельного цикла проверки — в 2-3 раза дешевле по токенам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685800" y="4965192"/>
            <a:ext cx="91440" cy="9144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25" name="Text 20"/>
          <p:cNvSpPr/>
          <p:nvPr/>
        </p:nvSpPr>
        <p:spPr>
          <a:xfrm>
            <a:off x="960120" y="4846320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C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Автодопись при обрыве по лимиту токенов — документ всегда дописывается до конца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685800" y="5422392"/>
            <a:ext cx="91440" cy="9144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27" name="Text 22"/>
          <p:cNvSpPr/>
          <p:nvPr/>
        </p:nvSpPr>
        <p:spPr>
          <a:xfrm>
            <a:off x="960120" y="5303520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C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Жёсткий запрет на выдуманные факты — плейсхолдер вместо угадывания дат и ФИО</a:t>
            </a:r>
            <a:endParaRPr lang="en-US" sz="1150" dirty="0"/>
          </a:p>
        </p:txBody>
      </p:sp>
      <p:sp>
        <p:nvSpPr>
          <p:cNvPr id="28" name="Shape 23"/>
          <p:cNvSpPr/>
          <p:nvPr/>
        </p:nvSpPr>
        <p:spPr>
          <a:xfrm>
            <a:off x="685800" y="5879592"/>
            <a:ext cx="91440" cy="9144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29" name="Text 24"/>
          <p:cNvSpPr/>
          <p:nvPr/>
        </p:nvSpPr>
        <p:spPr>
          <a:xfrm>
            <a:off x="960120" y="5760720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C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RAG-обучение на образцах документов, загружаемых администратором</a:t>
            </a:r>
            <a:endParaRPr lang="en-US" sz="1150" dirty="0"/>
          </a:p>
        </p:txBody>
      </p:sp>
      <p:sp>
        <p:nvSpPr>
          <p:cNvPr id="30" name="Text 25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895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DOCURA.KZ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5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КОНКУРЕНТНОЕ ОКРУЖЕНИЕ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Прямых нишевых конкурентов в РК нет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017520" cy="56692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2880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57600" y="1828800"/>
            <a:ext cx="2560320" cy="566928"/>
          </a:xfrm>
          <a:prstGeom prst="rect">
            <a:avLst/>
          </a:prstGeom>
          <a:solidFill>
            <a:srgbClr val="1A2E5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94760" y="1828800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Docura.kz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17920" y="1828800"/>
            <a:ext cx="2834640" cy="56692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55080" y="1828800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Универсальные AI-чаты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(ChatGPT, обычный Claude)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9052560" y="1828800"/>
            <a:ext cx="2468880" cy="56692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89720" y="1828800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Ручная работа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(Word-шаблоны)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2395728"/>
            <a:ext cx="30175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395728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Знание МОН РК / ГОСО ДО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0" y="2395728"/>
            <a:ext cx="2560320" cy="566928"/>
          </a:xfrm>
          <a:prstGeom prst="rect">
            <a:avLst/>
          </a:prstGeom>
          <a:solidFill>
            <a:srgbClr val="EBF3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94760" y="2395728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17920" y="2395728"/>
            <a:ext cx="28346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2395728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(общие знания)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052560" y="2395728"/>
            <a:ext cx="24688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89720" y="2395728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Зависит от учителя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" y="2962656"/>
            <a:ext cx="30175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2962656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Готовый Word-документ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0" y="2962656"/>
            <a:ext cx="2560320" cy="566928"/>
          </a:xfrm>
          <a:prstGeom prst="rect">
            <a:avLst/>
          </a:prstGeom>
          <a:solidFill>
            <a:srgbClr val="EBF3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94760" y="2962656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ДА, автоматически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17920" y="2962656"/>
            <a:ext cx="28346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55080" y="2962656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Нужно форматировать самому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052560" y="2962656"/>
            <a:ext cx="24688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89720" y="2962656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ДА, но руками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0080" y="3529584"/>
            <a:ext cx="30175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3529584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Telegram, без установки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657600" y="3529584"/>
            <a:ext cx="2560320" cy="566928"/>
          </a:xfrm>
          <a:prstGeom prst="rect">
            <a:avLst/>
          </a:prstGeom>
          <a:solidFill>
            <a:srgbClr val="EBF3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94760" y="3529584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217920" y="3529584"/>
            <a:ext cx="28346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55080" y="3529584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Нужен отдельный аккаунт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9052560" y="3529584"/>
            <a:ext cx="24688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89720" y="3529584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40080" y="4096512"/>
            <a:ext cx="30175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7240" y="4096512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Голосовой ввод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657600" y="4096512"/>
            <a:ext cx="2560320" cy="566928"/>
          </a:xfrm>
          <a:prstGeom prst="rect">
            <a:avLst/>
          </a:prstGeom>
          <a:solidFill>
            <a:srgbClr val="EBF3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794760" y="4096512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217920" y="4096512"/>
            <a:ext cx="28346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55080" y="4096512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Частично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9052560" y="4096512"/>
            <a:ext cx="24688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189720" y="4096512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40080" y="4663440"/>
            <a:ext cx="30175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77240" y="466344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Цена / месяц безлимит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3657600" y="4663440"/>
            <a:ext cx="2560320" cy="566928"/>
          </a:xfrm>
          <a:prstGeom prst="rect">
            <a:avLst/>
          </a:prstGeom>
          <a:solidFill>
            <a:srgbClr val="EBF3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794760" y="4663440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1 990 ₸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217920" y="4663440"/>
            <a:ext cx="28346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55080" y="4663440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~9 000 ₸ (подписка ИИ)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9052560" y="4663440"/>
            <a:ext cx="24688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189720" y="4663440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Бесплатно, но часы времени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DOCURA.KZ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ДОРОЖНАЯ КАРТА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 100 пользователей до республиканского масштаба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29000" cy="3749040"/>
          </a:xfrm>
          <a:prstGeom prst="roundRect">
            <a:avLst>
              <a:gd name="adj" fmla="val 2133"/>
            </a:avLst>
          </a:prstGeom>
          <a:solidFill>
            <a:srgbClr val="1A2E5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05740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СЕЙЧАС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Захват школ Актобе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914400" y="3118104"/>
            <a:ext cx="91440" cy="9144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29718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C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Первые 100 учителей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14400" y="3831336"/>
            <a:ext cx="91440" cy="9144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3685032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C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Kaspi Pay API интеграция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14400" y="4544568"/>
            <a:ext cx="91440" cy="9144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4398264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C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Обучение бота на эталонных образцах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89120" y="1828800"/>
            <a:ext cx="3429000" cy="3749040"/>
          </a:xfrm>
          <a:prstGeom prst="roundRect">
            <a:avLst>
              <a:gd name="adj" fmla="val 21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205740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СЛЕД. ШАГ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663440" y="237744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Масштаб на РК + детсады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4663440" y="3118104"/>
            <a:ext cx="91440" cy="9144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29718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 во все регионы Казахстана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3831336"/>
            <a:ext cx="91440" cy="9144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3685032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Полноценный запуск сегмента детских садов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4544568"/>
            <a:ext cx="91440" cy="9144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4398264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Еженедельный сброс бесплатных попыток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138160" y="1828800"/>
            <a:ext cx="3429000" cy="3749040"/>
          </a:xfrm>
          <a:prstGeom prst="roundRect">
            <a:avLst>
              <a:gd name="adj" fmla="val 21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12480" y="205740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ДАЛЬШЕ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412480" y="237744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B2G и партнёрства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8412480" y="3118104"/>
            <a:ext cx="91440" cy="9144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26" name="Text 24"/>
          <p:cNvSpPr/>
          <p:nvPr/>
        </p:nvSpPr>
        <p:spPr>
          <a:xfrm>
            <a:off x="8641080" y="29718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Пилоты с акиматами и управлениями образования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412480" y="3831336"/>
            <a:ext cx="91440" cy="9144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28" name="Text 26"/>
          <p:cNvSpPr/>
          <p:nvPr/>
        </p:nvSpPr>
        <p:spPr>
          <a:xfrm>
            <a:off x="8641080" y="3685032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Интеграция с РАГ-базой приказов МОН РК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412480" y="4544568"/>
            <a:ext cx="91440" cy="9144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30" name="Text 28"/>
          <p:cNvSpPr/>
          <p:nvPr/>
        </p:nvSpPr>
        <p:spPr>
          <a:xfrm>
            <a:off x="8641080" y="4398264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для образовательных холдингов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DOCURA.KZ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E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Основатель, который сам видит проблему изнутри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881360" cy="3383280"/>
          </a:xfrm>
          <a:prstGeom prst="roundRect">
            <a:avLst>
              <a:gd name="adj" fmla="val 2162"/>
            </a:avLst>
          </a:prstGeom>
          <a:solidFill>
            <a:srgbClr val="23396B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2286000"/>
            <a:ext cx="1371600" cy="137160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2860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2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2743200" y="2377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Мернар Ермуханов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743200" y="2880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Основатель и разработчик Docura.kz · Актобе, Казахстан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88920" y="3685032"/>
            <a:ext cx="91440" cy="9144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0" name="Text 8"/>
          <p:cNvSpPr/>
          <p:nvPr/>
        </p:nvSpPr>
        <p:spPr>
          <a:xfrm>
            <a:off x="3017520" y="3538728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C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Самостоятельно спроектировал и развернул продукт «от нуля до прода»: бот, генерация документов, админ-панель, платежи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88920" y="4233672"/>
            <a:ext cx="91440" cy="9144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2" name="Text 10"/>
          <p:cNvSpPr/>
          <p:nvPr/>
        </p:nvSpPr>
        <p:spPr>
          <a:xfrm>
            <a:off x="3017520" y="4087368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C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Действующее ИП в Казахстане — юридическая готовность к масштабированию и официальному приёму платежей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88920" y="4782312"/>
            <a:ext cx="91440" cy="9144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4" name="Text 12"/>
          <p:cNvSpPr/>
          <p:nvPr/>
        </p:nvSpPr>
        <p:spPr>
          <a:xfrm>
            <a:off x="3017520" y="4636008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C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Прямой контакт с целевой аудиторией — учителями и администрацией школ Актобе для тестирования и сбора обратной связи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895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DOCURA.KZ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5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20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486400" cy="5486400"/>
          </a:xfrm>
          <a:prstGeom prst="ellipse">
            <a:avLst/>
          </a:prstGeom>
          <a:solidFill>
            <a:srgbClr val="1A2E5A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НУЖНО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Инвестиции в захват рынка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31520" y="2468880"/>
            <a:ext cx="3429000" cy="2468880"/>
          </a:xfrm>
          <a:prstGeom prst="roundRect">
            <a:avLst>
              <a:gd name="adj" fmla="val 2963"/>
            </a:avLst>
          </a:prstGeom>
          <a:solidFill>
            <a:srgbClr val="1A2E5A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2697480"/>
            <a:ext cx="594360" cy="594360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7" name="Image 0" descr="icons/FaMoneyBillWav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1288" y="2852928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347472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Маркетинговый бюджет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005840" y="3977640"/>
            <a:ext cx="2880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A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Продвижение в учительских и воспитательских сообществах по всей РК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480560" y="2468880"/>
            <a:ext cx="3429000" cy="2468880"/>
          </a:xfrm>
          <a:prstGeom prst="roundRect">
            <a:avLst>
              <a:gd name="adj" fmla="val 2963"/>
            </a:avLst>
          </a:prstGeom>
          <a:solidFill>
            <a:srgbClr val="1A2E5A"/>
          </a:solidFill>
          <a:ln/>
        </p:spPr>
      </p:sp>
      <p:sp>
        <p:nvSpPr>
          <p:cNvPr id="11" name="Shape 8"/>
          <p:cNvSpPr/>
          <p:nvPr/>
        </p:nvSpPr>
        <p:spPr>
          <a:xfrm>
            <a:off x="4754880" y="2697480"/>
            <a:ext cx="594360" cy="594360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12" name="Image 1" descr="icons/FaCogs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0328" y="2852928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54880" y="347472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Kaspi Pay API + инфраструктура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754880" y="3977640"/>
            <a:ext cx="2880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A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Полная автоматизация платежей, выделенный сервер для стабильности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229600" y="2468880"/>
            <a:ext cx="3429000" cy="2468880"/>
          </a:xfrm>
          <a:prstGeom prst="roundRect">
            <a:avLst>
              <a:gd name="adj" fmla="val 2963"/>
            </a:avLst>
          </a:prstGeom>
          <a:solidFill>
            <a:srgbClr val="1A2E5A"/>
          </a:solidFill>
          <a:ln/>
        </p:spPr>
      </p:sp>
      <p:sp>
        <p:nvSpPr>
          <p:cNvPr id="16" name="Shape 12"/>
          <p:cNvSpPr/>
          <p:nvPr/>
        </p:nvSpPr>
        <p:spPr>
          <a:xfrm>
            <a:off x="8503920" y="2697480"/>
            <a:ext cx="594360" cy="594360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17" name="Image 2" descr="icons/FaUsers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9368" y="2852928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503920" y="347472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Усиление команды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8503920" y="3977640"/>
            <a:ext cx="2880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A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Поддержка пользователей и контент-менеджер для базы образцов документов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731520" y="5943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t.me/docurakz_bot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731520" y="63093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E8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Свяжитесь с нами, чтобы увидеть продукт в действии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Docura.kz — Investor Deck</dc:title>
  <dc:subject>PptxGenJS Presentation</dc:subject>
  <dc:creator>Docura.kz</dc:creator>
  <cp:lastModifiedBy>Docura.kz</cp:lastModifiedBy>
  <cp:revision>1</cp:revision>
  <dcterms:created xsi:type="dcterms:W3CDTF">2026-06-21T11:16:36Z</dcterms:created>
  <dcterms:modified xsi:type="dcterms:W3CDTF">2026-06-21T11:16:36Z</dcterms:modified>
</cp:coreProperties>
</file>